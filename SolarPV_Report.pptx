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57" r:id="rId3"/>
    <p:sldId id="290" r:id="rId4"/>
    <p:sldId id="291" r:id="rId5"/>
    <p:sldId id="2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64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A4FF3-1A02-4CB6-80DB-4E0A9D14C37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B6586-764C-4240-80E1-0B25EAE39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75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8724-0768-8F47-9E5B-0A8588DA9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11B94-3668-60EC-95B5-FBBD30E93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A41C6-E1CC-877D-2E36-C37DC85E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28285-94F9-FB06-B7A3-48509151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09AF8-76E0-00C8-4BC7-D220DB37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3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D55B-E49E-60BE-917D-DFD96423E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D5B2-069A-4428-5392-A74DAB204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6B052-5962-22B3-DBAA-D20BF29C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09930-CF34-0E21-91FB-0D620CCA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50525-6944-D5CF-73F2-4DB91FBA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9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00AB-C36C-DB4D-AC46-9A4311F6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433FE-8B8B-8E55-AE8F-E181F870D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373D1-22F2-E60E-9607-BF1BA5BA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9282-5038-DA08-22FE-9903DE14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0D126-2904-5233-85F9-477CBD29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7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0EB4-7F3E-6AAF-22C3-8BB45748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6F1F8-412E-36D2-C655-1206D98B9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34CD8-34E6-B36F-F995-7184E35EF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02538-C4AB-B526-5392-5552FD37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643E0-EFDC-69A5-AB17-B2596A4A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C73E1-3027-68A2-026C-67B4B3C6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2F70-D109-CA5C-08FE-D529E839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33B19-2552-5D6E-9C07-691725DAD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4F4BA-0A67-E4FD-A289-E4B92E60F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0033-B982-4E4E-9ADF-5B00B8C19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EEC1F-B09A-C7F6-48C2-37CBB91A7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44DC9-B3DE-3260-39E0-0F8828BE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8C5A-B732-5D30-2935-CDE9D380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AE245-E6A8-BEE3-A5BE-BA65A020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37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CCC1-A3E1-4CE9-755A-78D24209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B2319-296D-5531-E6EF-53142197B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C60B5-7BC0-14FB-2DEC-7E89CE35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B9F16-907B-E4C6-A8A9-FD008CB0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7C3B6-B18C-3E33-7D71-351889B7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3C553-3B44-4B71-0161-B7F66882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820E7-F228-AD32-253B-28FEF6B5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1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2137-021C-C7F0-25C1-EFF1F4DF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CDAB-1FB6-8808-4FAC-7D10AA400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024A0-EA05-A950-1BAF-0DFA3E89A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A5459-B1AE-608A-0108-DC682575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C95C0-8D31-C404-0DAE-2DF9EB81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4F1A-0163-EBA8-4FB5-AD791FEF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0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E53E-D981-2633-F276-A3C886E7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91249-1C1D-4F2C-6285-406409F84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304FD-3EE6-9B5F-8890-0461DA479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E3948-0E56-6663-D660-1115125F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04108-3733-0B1E-D131-3DAD2832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F5B3F-98EB-3D26-081A-E25DD296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3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B7B3-AFE6-3460-E077-F381C57B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5021F-5B71-73B0-8A3F-DE410CE39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6D676-6BD8-29A1-0E13-4016FE91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B54AB-628B-08BA-A566-A76D34B1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C53E2-86C6-ECB7-653D-40A406F5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6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D2589-11A3-9E2D-7717-7870D146A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CD58D-041A-7CE1-9393-A4F021528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44181-8894-9654-3161-E5D94F7B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546BB-E069-97A0-4A73-1DDA1652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8D322-2150-F654-DBE0-9B5F8787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06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a6ecb3ac7_1_26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g13a6ecb3ac7_1_2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5125" y="6164975"/>
            <a:ext cx="527250" cy="475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200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7B97A-F8D4-B1CF-E9F1-EA8FA7A9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E96C9-AD55-149E-8B1B-4CED004B7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D89CD-C5A9-B448-99A4-D455BA5FB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84827-50ED-462F-BB6F-DCBB26F079D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C8755-FB83-1F5F-2B67-D7062184B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5156A-7607-7FCE-B186-67173469E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494C3-F87C-4B47-9BA3-9C8FB5A7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20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Solar PV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0CC"/>
                </a:solidFill>
              </a:rPr>
              <a:t>India  |  1000 m² roof × 80% coverage  →  80.00 kWp system</a:t>
            </a:r>
          </a:p>
        </p:txBody>
      </p:sp>
      <p:pic>
        <p:nvPicPr>
          <p:cNvPr id="5" name="Picture 4" descr="ED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82512"/>
            <a:ext cx="6531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18872"/>
            <a:ext cx="116707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00000"/>
                </a:solidFill>
              </a:rPr>
              <a:t>Assumptions &amp; Analysis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566928"/>
            <a:ext cx="11698224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685800"/>
            <a:ext cx="11698224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0000"/>
                </a:solidFill>
              </a:defRPr>
            </a:pPr>
            <a:r>
              <a:rPr dirty="0"/>
              <a:t>Default Conditions &amp; Selected Parameters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C00000"/>
                </a:solidFill>
              </a:defRPr>
            </a:pPr>
            <a:r>
              <a:rPr dirty="0"/>
              <a:t>Analysis Period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Date Range: 01 Jan to 31 Dec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Hour Range: 00:00 to 23:00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C00000"/>
                </a:solidFill>
              </a:defRPr>
            </a:pPr>
            <a:r>
              <a:rPr dirty="0"/>
              <a:t>Solar PV Assumptions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Country / Location: India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Total Roof Size: 1000 m²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Solar Coverage: 80% of roof area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Effective PV Area: 800.0 m²  →  System Size: 80.00 </a:t>
            </a:r>
            <a:r>
              <a:rPr dirty="0" err="1"/>
              <a:t>kWp</a:t>
            </a:r>
            <a:r>
              <a:rPr dirty="0"/>
              <a:t>  (10 m² = 1 </a:t>
            </a:r>
            <a:r>
              <a:rPr dirty="0" err="1"/>
              <a:t>kWp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Data Source: World Bank Global Solar Atlas 2.0 / </a:t>
            </a:r>
            <a:r>
              <a:rPr dirty="0" err="1"/>
              <a:t>SolarGIS</a:t>
            </a:r>
            <a:r>
              <a:rPr dirty="0"/>
              <a:t> PVOUT Level 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rPr dirty="0"/>
              <a:t>• Values represent long-term monthly average specific yield (kWh/</a:t>
            </a:r>
            <a:r>
              <a:rPr dirty="0" err="1"/>
              <a:t>kWp.day</a:t>
            </a:r>
            <a:r>
              <a:rPr dirty="0"/>
              <a:t>)</a:t>
            </a:r>
          </a:p>
        </p:txBody>
      </p:sp>
      <p:pic>
        <p:nvPicPr>
          <p:cNvPr id="5" name="Picture 4" descr="ED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82512"/>
            <a:ext cx="6531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18872"/>
            <a:ext cx="116707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00000"/>
                </a:solidFill>
              </a:rPr>
              <a:t>Solar PV Yield — India  (Per kWp Reference)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566928"/>
            <a:ext cx="11698224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mpxng583c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658368"/>
            <a:ext cx="11698224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" y="4443984"/>
            <a:ext cx="2842260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Annual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 / kWp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8876" y="4443984"/>
            <a:ext cx="2842260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2884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Annual Daily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4596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4.32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2884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 / kWp.day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864" y="4443984"/>
            <a:ext cx="284226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4872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Peak Month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6584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4872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kWh/kWp · 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2852" y="4443984"/>
            <a:ext cx="284226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6860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Peak Day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572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5.23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kWh/kWp.d · Mar</a:t>
            </a:r>
          </a:p>
        </p:txBody>
      </p:sp>
      <p:pic>
        <p:nvPicPr>
          <p:cNvPr id="21" name="Picture 20" descr="ED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382512"/>
            <a:ext cx="6531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18872"/>
            <a:ext cx="116707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00000"/>
                </a:solidFill>
              </a:rPr>
              <a:t>Solar PV System Yield — India  (80.00 kWp)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566928"/>
            <a:ext cx="11698224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mpnd2srz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658368"/>
            <a:ext cx="11698224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" y="4443984"/>
            <a:ext cx="2842260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Annual Yield (System)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126,189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 /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8876" y="4443984"/>
            <a:ext cx="2842260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2884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Annual Daily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4596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345.8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2884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 /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864" y="4443984"/>
            <a:ext cx="284226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4872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Peak Month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6584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12,982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4872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 · 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2852" y="4443984"/>
            <a:ext cx="284226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6860" y="449884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E0B2"/>
                </a:solidFill>
              </a:rPr>
              <a:t>Peak Day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572" y="4672584"/>
            <a:ext cx="27508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418.8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5047488"/>
            <a:ext cx="27142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FFF0D0"/>
                </a:solidFill>
              </a:rPr>
              <a:t>kWh/d · Mar</a:t>
            </a:r>
          </a:p>
        </p:txBody>
      </p:sp>
      <p:pic>
        <p:nvPicPr>
          <p:cNvPr id="21" name="Picture 20" descr="ED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382512"/>
            <a:ext cx="6531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18872"/>
            <a:ext cx="116707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00000"/>
                </a:solidFill>
              </a:rPr>
              <a:t>Annexure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566928"/>
            <a:ext cx="11698224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731520"/>
            <a:ext cx="11698224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00000"/>
                </a:solidFill>
              </a:defRPr>
            </a:pPr>
            <a:r>
              <a:t>About EDS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Environmental Design Solutions [EDS] is a sustainability advisory firm. Since 2002, EDS has worked on over 500 green building and energy efficiency projects worldwide. The team focuses on climate change mitigation, low-carbon design, building simulation, performance audits, and capacity building. EDS continues to contribute to the buildings community with useful tools through its IT services.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Disclaimer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Climate Zone Analyser is an outcome of the best efforts of building simulation experts at EDS.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EDS does not assume responsibility for outcomes from its use. By using this Application, the User indemnifies EDS against any damages.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EDS does not guarantee uninterrupted availability. By using this Application, the User agrees to share uploaded information with EDS for analysis and research purposes.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Open-source resources used: Clima - Berkley, Streamlit, Python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EDS is not liable to inform Users about updates to the Application or underlying resources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>
                <a:solidFill>
                  <a:srgbClr val="C00000"/>
                </a:solidFill>
              </a:defRPr>
            </a:pPr>
            <a:r>
              <a:t>Acknowledgement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Betti, G., et al. CBE Clima Tool Build. Simul. (2023). https://doi.org/10.1007/s12273-023-1090-5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Streamlit, © Streamlit Inc., licensed under Apache 2.0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 sz="1100">
                <a:solidFill>
                  <a:srgbClr val="404040"/>
                </a:solidFill>
              </a:defRPr>
            </a:pPr>
            <a:r>
              <a:t>• Python © Python Software Foundation, licensed under PSF License Version 2</a:t>
            </a:r>
          </a:p>
        </p:txBody>
      </p:sp>
      <p:pic>
        <p:nvPicPr>
          <p:cNvPr id="5" name="Picture 4" descr="ED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82512"/>
            <a:ext cx="653142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3823</TotalTime>
  <Words>425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Anshuman Vashistha</dc:creator>
  <cp:lastModifiedBy>Abdullah Kidwai</cp:lastModifiedBy>
  <cp:revision>41</cp:revision>
  <dcterms:created xsi:type="dcterms:W3CDTF">2024-01-05T10:48:38Z</dcterms:created>
  <dcterms:modified xsi:type="dcterms:W3CDTF">2026-06-17T09:28:59Z</dcterms:modified>
</cp:coreProperties>
</file>